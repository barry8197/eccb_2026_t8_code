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80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C2F5B-8D8C-EE27-6FF4-95A7E21B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30C49-6726-BE07-5E69-9484D42D7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E33AF-A265-A3FA-0873-CB2D4F254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4266A-B512-51AC-1498-696E95006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9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325880"/>
            <a:ext cx="1234440" cy="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1325880"/>
            <a:ext cx="1234440" cy="68580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04120" y="640080"/>
            <a:ext cx="1234440" cy="68580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04120" y="2011680"/>
            <a:ext cx="1234440" cy="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04120" y="2011680"/>
            <a:ext cx="685800" cy="54864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338560" y="1325880"/>
            <a:ext cx="0" cy="123444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32520" y="11887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01250" y="537210"/>
            <a:ext cx="205740" cy="2057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01250" y="1908810"/>
            <a:ext cx="205740" cy="2057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201400" y="11887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87050" y="2457450"/>
            <a:ext cx="205740" cy="2057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149840" y="4846320"/>
            <a:ext cx="987552" cy="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49840" y="4846320"/>
            <a:ext cx="987552" cy="54864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137392" y="4297680"/>
            <a:ext cx="987552" cy="54864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137392" y="5394960"/>
            <a:ext cx="987552" cy="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37392" y="5394960"/>
            <a:ext cx="548640" cy="438912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124944" y="4846320"/>
            <a:ext cx="0" cy="987552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040112" y="473659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055096" y="421538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055096" y="531266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015216" y="4736592"/>
            <a:ext cx="219456" cy="2194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603736" y="575157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ECCB 2026  ·  TUTORIAL  ·  SESSION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15544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Agentic LLM Workflows</a:t>
            </a:r>
            <a:endParaRPr lang="en-US" sz="4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Biomedical Knowledge Graphs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MCP, and reusable skills for querying structured biological data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41248" y="4526280"/>
            <a:ext cx="38404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DB4C0"/>
                </a:solidFill>
                <a:latin typeface="Calibri" pitchFamily="34" charset="0"/>
                <a:cs typeface="Calibri" pitchFamily="34" charset="-120"/>
              </a:rPr>
              <a:t>Biomedical Informatics Group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develop and query custom knowledge graphs using LLMs and multi-omics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561320" y="46177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4855464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useful interfaces — but biomedical answers should come from real data, not from parameter knowledge alone.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200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200400" cy="10972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0" y="3127248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770" y="3341218"/>
            <a:ext cx="395021" cy="3950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4041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question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candidate genes matter for this patient?”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86200" y="3630168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337" y="3763305"/>
            <a:ext cx="245791" cy="24579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80560" y="2743200"/>
            <a:ext cx="3200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480560" y="2743200"/>
            <a:ext cx="320040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669280" y="3127248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50" y="3341218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4041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loop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70916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call a tool → read result → decide → answer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726680" y="3630168"/>
            <a:ext cx="512064" cy="512064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817" y="3763305"/>
            <a:ext cx="245791" cy="245791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321040" y="2743200"/>
            <a:ext cx="3200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8321040" y="2743200"/>
            <a:ext cx="3200400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509760" y="3127248"/>
            <a:ext cx="822960" cy="822960"/>
          </a:xfrm>
          <a:prstGeom prst="ellipse">
            <a:avLst/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3730" y="3341218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03920" y="40416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+ omics profile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54964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nodes, edges, paths, and molecular scores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 is not to make the model know all of biology. </a:t>
            </a: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 is to make it ask the right computational system.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plain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109728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D1495B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22382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Fluent, but ungrounded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2880360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4F7F6"/>
          </a:solidFill>
          <a:ln w="12700">
            <a:solidFill>
              <a:srgbClr val="D9E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28803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genes are associated with this phenotype?”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5B7083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40288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886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 answers from training data alone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914400" y="4617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is operations, not just text — nodes, edges, paths, weights, neighborhoods, algorithms.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263640" y="178308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graph access, the model may blend: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263640" y="233172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63640" y="2331720"/>
            <a:ext cx="109728" cy="107899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583680" y="247802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general knowledge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658368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associations from the literature — but no provenance you can check.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63640" y="3547872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263640" y="3547872"/>
            <a:ext cx="109728" cy="1078992"/>
          </a:xfrm>
          <a:prstGeom prst="rect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583680" y="36941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Outdated references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6583680" y="4050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at training time; the local graph has moved on.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263640" y="4764024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263640" y="4764024"/>
            <a:ext cx="109728" cy="1078992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583680" y="49103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Plausible-sounding guesses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6583680" y="52669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hallucinations that look identical to facts.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changes with agentic framework?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let the model request exact operations from trusted code — the model reasons, facts come from the graph.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" y="2670048"/>
            <a:ext cx="512064" cy="512064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09" y="280318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2468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96312" y="2468880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2898648" y="246888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063240" y="2670048"/>
            <a:ext cx="512064" cy="512064"/>
          </a:xfrm>
          <a:prstGeom prst="ellipse">
            <a:avLst/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377" y="2803185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1880" y="2468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754880" y="2468880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5157216" y="246888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321808" y="2670048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4945" y="2803185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870448" y="2468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013448" y="2468880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7415784" y="246888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580376" y="2670048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513" y="2803185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29016" y="2468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data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72016" y="2468880"/>
            <a:ext cx="384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1"/>
          <p:cNvSpPr/>
          <p:nvPr/>
        </p:nvSpPr>
        <p:spPr>
          <a:xfrm>
            <a:off x="9674352" y="246888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9838944" y="2670048"/>
            <a:ext cx="512064" cy="512064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2081" y="2803185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387584" y="2468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TOOLS THE MODEL CAN CALL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40080" y="4114800"/>
            <a:ext cx="21579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1335024" y="4407408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4729" y="4607113"/>
            <a:ext cx="368686" cy="36868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49808" y="52578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graph nodes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2916936" y="4114800"/>
            <a:ext cx="21579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3611880" y="4407408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1585" y="4607113"/>
            <a:ext cx="368686" cy="36868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026664" y="52578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neighbors</a:t>
            </a:r>
            <a:endParaRPr lang="en-US" sz="1350" dirty="0"/>
          </a:p>
        </p:txBody>
      </p:sp>
      <p:sp>
        <p:nvSpPr>
          <p:cNvPr id="40" name="Shape 31"/>
          <p:cNvSpPr/>
          <p:nvPr/>
        </p:nvSpPr>
        <p:spPr>
          <a:xfrm>
            <a:off x="5193792" y="4114800"/>
            <a:ext cx="21579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5888736" y="4407408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8441" y="4607113"/>
            <a:ext cx="368686" cy="36868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303520" y="52578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paths</a:t>
            </a:r>
            <a:endParaRPr lang="en-US" sz="1350" dirty="0"/>
          </a:p>
        </p:txBody>
      </p:sp>
      <p:sp>
        <p:nvSpPr>
          <p:cNvPr id="44" name="Shape 34"/>
          <p:cNvSpPr/>
          <p:nvPr/>
        </p:nvSpPr>
        <p:spPr>
          <a:xfrm>
            <a:off x="7470648" y="4114800"/>
            <a:ext cx="21579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8165592" y="4407408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5297" y="4607113"/>
            <a:ext cx="368686" cy="36868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580376" y="52578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genes by profile</a:t>
            </a:r>
            <a:endParaRPr lang="en-US" sz="1350" dirty="0"/>
          </a:p>
        </p:txBody>
      </p:sp>
      <p:sp>
        <p:nvSpPr>
          <p:cNvPr id="48" name="Shape 37"/>
          <p:cNvSpPr/>
          <p:nvPr/>
        </p:nvSpPr>
        <p:spPr>
          <a:xfrm>
            <a:off x="9747504" y="4114800"/>
            <a:ext cx="2157984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8"/>
          <p:cNvSpPr/>
          <p:nvPr/>
        </p:nvSpPr>
        <p:spPr>
          <a:xfrm>
            <a:off x="10442448" y="4407408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2153" y="4607113"/>
            <a:ext cx="368686" cy="368686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9857232" y="52578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Summarize evidence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agent?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72800" cy="3380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model-driven loop over reasoning, action, observation, and response.</a:t>
            </a:r>
          </a:p>
          <a:p>
            <a:pPr marL="0" indent="0">
              <a:buNone/>
            </a:pPr>
            <a:endParaRPr lang="en-US" sz="1700" i="1" dirty="0">
              <a:solidFill>
                <a:srgbClr val="5B7083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700" i="1" dirty="0">
                <a:solidFill>
                  <a:srgbClr val="5B7083"/>
                </a:solidFill>
                <a:latin typeface="Calibri" pitchFamily="34" charset="0"/>
                <a:cs typeface="Calibri" pitchFamily="34" charset="-120"/>
              </a:rPr>
              <a:t>…put some quotes from papers defining agents and cite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07D4-FE2D-8CC5-C5E2-06AF6A6A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B55C60-8C08-22CA-B562-8C5A5A8501E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79E786-2DF7-9C9C-19C4-A21262E6DE8D}"/>
              </a:ext>
            </a:extLst>
          </p:cNvPr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9BF51F-B501-3550-6337-AFE321870101}"/>
              </a:ext>
            </a:extLst>
          </p:cNvPr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our example, the agent: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576140-0308-C9CA-3D98-5AEAEBD42108}"/>
              </a:ext>
            </a:extLst>
          </p:cNvPr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AEE2588-9383-33C8-FBA5-31351B21168F}"/>
              </a:ext>
            </a:extLst>
          </p:cNvPr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model-driven loop over reasoning, action, observation, and response.</a:t>
            </a:r>
            <a:endParaRPr lang="en-US" sz="17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F35BC6C-CA19-0682-748D-BADDB463D60B}"/>
              </a:ext>
            </a:extLst>
          </p:cNvPr>
          <p:cNvSpPr/>
          <p:nvPr/>
        </p:nvSpPr>
        <p:spPr>
          <a:xfrm>
            <a:off x="685800" y="23317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486EB54-0D1C-BE27-21C4-377C97600022}"/>
              </a:ext>
            </a:extLst>
          </p:cNvPr>
          <p:cNvSpPr/>
          <p:nvPr/>
        </p:nvSpPr>
        <p:spPr>
          <a:xfrm>
            <a:off x="68580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DD27984-21A9-009F-D4DC-33C849D61AF0}"/>
              </a:ext>
            </a:extLst>
          </p:cNvPr>
          <p:cNvSpPr/>
          <p:nvPr/>
        </p:nvSpPr>
        <p:spPr>
          <a:xfrm>
            <a:off x="1463040" y="23317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goal</a:t>
            </a:r>
            <a:endParaRPr lang="en-US" sz="16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3A70856-33B1-6867-F258-84DA8E615AF0}"/>
              </a:ext>
            </a:extLst>
          </p:cNvPr>
          <p:cNvSpPr/>
          <p:nvPr/>
        </p:nvSpPr>
        <p:spPr>
          <a:xfrm>
            <a:off x="969264" y="2898648"/>
            <a:ext cx="0" cy="292608"/>
          </a:xfrm>
          <a:prstGeom prst="line">
            <a:avLst/>
          </a:prstGeom>
          <a:noFill/>
          <a:ln w="25400">
            <a:solidFill>
              <a:srgbClr val="C3D2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FA1E245-F856-D954-8261-31394EEAEA98}"/>
              </a:ext>
            </a:extLst>
          </p:cNvPr>
          <p:cNvSpPr/>
          <p:nvPr/>
        </p:nvSpPr>
        <p:spPr>
          <a:xfrm>
            <a:off x="685800" y="319125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238B51-F196-D280-F2E2-4D5852467CFD}"/>
              </a:ext>
            </a:extLst>
          </p:cNvPr>
          <p:cNvSpPr/>
          <p:nvPr/>
        </p:nvSpPr>
        <p:spPr>
          <a:xfrm>
            <a:off x="685800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52DA904-861E-3AE1-8EAC-7530E3DD587E}"/>
              </a:ext>
            </a:extLst>
          </p:cNvPr>
          <p:cNvSpPr/>
          <p:nvPr/>
        </p:nvSpPr>
        <p:spPr>
          <a:xfrm>
            <a:off x="1463040" y="31912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a tool</a:t>
            </a:r>
            <a:endParaRPr lang="en-US" sz="16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C1334C1-C277-009E-B288-B516F3115012}"/>
              </a:ext>
            </a:extLst>
          </p:cNvPr>
          <p:cNvSpPr/>
          <p:nvPr/>
        </p:nvSpPr>
        <p:spPr>
          <a:xfrm>
            <a:off x="969264" y="3758184"/>
            <a:ext cx="0" cy="292608"/>
          </a:xfrm>
          <a:prstGeom prst="line">
            <a:avLst/>
          </a:prstGeom>
          <a:noFill/>
          <a:ln w="25400">
            <a:solidFill>
              <a:srgbClr val="C3D2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388306A-B99A-78BD-9D85-211BD66F6557}"/>
              </a:ext>
            </a:extLst>
          </p:cNvPr>
          <p:cNvSpPr/>
          <p:nvPr/>
        </p:nvSpPr>
        <p:spPr>
          <a:xfrm>
            <a:off x="685800" y="405079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18B7D0-1F5C-3FEE-3AB2-C1DB6AB65A02}"/>
              </a:ext>
            </a:extLst>
          </p:cNvPr>
          <p:cNvSpPr/>
          <p:nvPr/>
        </p:nvSpPr>
        <p:spPr>
          <a:xfrm>
            <a:off x="685800" y="4050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D52A442-0795-B582-79C6-3354EFBED96D}"/>
              </a:ext>
            </a:extLst>
          </p:cNvPr>
          <p:cNvSpPr/>
          <p:nvPr/>
        </p:nvSpPr>
        <p:spPr>
          <a:xfrm>
            <a:off x="1463040" y="405079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the result</a:t>
            </a:r>
            <a:endParaRPr lang="en-US" sz="16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7C60C6D-8833-2D8E-1F9E-2F7BC55C4630}"/>
              </a:ext>
            </a:extLst>
          </p:cNvPr>
          <p:cNvSpPr/>
          <p:nvPr/>
        </p:nvSpPr>
        <p:spPr>
          <a:xfrm>
            <a:off x="969264" y="4617720"/>
            <a:ext cx="0" cy="292608"/>
          </a:xfrm>
          <a:prstGeom prst="line">
            <a:avLst/>
          </a:prstGeom>
          <a:noFill/>
          <a:ln w="25400">
            <a:solidFill>
              <a:srgbClr val="C3D2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A94DFFA-3417-5AAF-2795-118CEEB7E222}"/>
              </a:ext>
            </a:extLst>
          </p:cNvPr>
          <p:cNvSpPr/>
          <p:nvPr/>
        </p:nvSpPr>
        <p:spPr>
          <a:xfrm>
            <a:off x="685800" y="491032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25610AA-5CA4-0280-608B-DE6FA751D298}"/>
              </a:ext>
            </a:extLst>
          </p:cNvPr>
          <p:cNvSpPr/>
          <p:nvPr/>
        </p:nvSpPr>
        <p:spPr>
          <a:xfrm>
            <a:off x="685800" y="4910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34F8736-1661-0DEC-C755-42687BB2D3C0}"/>
              </a:ext>
            </a:extLst>
          </p:cNvPr>
          <p:cNvSpPr/>
          <p:nvPr/>
        </p:nvSpPr>
        <p:spPr>
          <a:xfrm>
            <a:off x="1463040" y="49103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 if another step is needed</a:t>
            </a:r>
            <a:endParaRPr lang="en-US" sz="16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26D92DB-6769-311E-5A2B-24E0F16409DA}"/>
              </a:ext>
            </a:extLst>
          </p:cNvPr>
          <p:cNvSpPr/>
          <p:nvPr/>
        </p:nvSpPr>
        <p:spPr>
          <a:xfrm>
            <a:off x="969264" y="5477256"/>
            <a:ext cx="0" cy="292608"/>
          </a:xfrm>
          <a:prstGeom prst="line">
            <a:avLst/>
          </a:prstGeom>
          <a:noFill/>
          <a:ln w="25400">
            <a:solidFill>
              <a:srgbClr val="C3D2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47DDDB1-D835-305C-EC5D-4E4F5DC7D2F4}"/>
              </a:ext>
            </a:extLst>
          </p:cNvPr>
          <p:cNvSpPr/>
          <p:nvPr/>
        </p:nvSpPr>
        <p:spPr>
          <a:xfrm>
            <a:off x="685800" y="5769864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3479624-465A-C465-E0D8-EB16B7BB5237}"/>
              </a:ext>
            </a:extLst>
          </p:cNvPr>
          <p:cNvSpPr/>
          <p:nvPr/>
        </p:nvSpPr>
        <p:spPr>
          <a:xfrm>
            <a:off x="685800" y="5769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B218872-2545-2B2D-7DF0-C87A92DDC197}"/>
              </a:ext>
            </a:extLst>
          </p:cNvPr>
          <p:cNvSpPr/>
          <p:nvPr/>
        </p:nvSpPr>
        <p:spPr>
          <a:xfrm>
            <a:off x="1463040" y="576986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with evidence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600250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LANDSCAPE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use vs RAG vs fine-tuning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methods solve different problems. 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2414016"/>
            <a:ext cx="493776" cy="493776"/>
          </a:xfrm>
          <a:prstGeom prst="ellipse">
            <a:avLst/>
          </a:prstGeom>
          <a:solidFill>
            <a:srgbClr val="5B7083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62" y="2542398"/>
            <a:ext cx="237012" cy="237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2860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023360" y="228600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parameter knowledge and query context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315468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" y="3282696"/>
            <a:ext cx="493776" cy="493776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062" y="3411078"/>
            <a:ext cx="237012" cy="2370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31546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023360" y="315468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documents or records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CF6F5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" y="4023360"/>
            <a:ext cx="109728" cy="7498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68680" y="4151376"/>
            <a:ext cx="493776" cy="493776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62" y="4279758"/>
            <a:ext cx="237012" cy="2370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023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use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4023360" y="402336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structured code and databases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503920" y="40233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for local data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40080" y="489204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68680" y="5020056"/>
            <a:ext cx="493776" cy="493776"/>
          </a:xfrm>
          <a:prstGeom prst="ellipse">
            <a:avLst/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062" y="5148438"/>
            <a:ext cx="237012" cy="2370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54480" y="4892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4023360" y="489204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model behaviour or parameter knowledge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640080" y="576072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68680" y="5888736"/>
            <a:ext cx="493776" cy="493776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062" y="6017118"/>
            <a:ext cx="237012" cy="2370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54480" y="57607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023360" y="57607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how tools &amp; resources are exposed</a:t>
            </a:r>
            <a:endParaRPr lang="en-US" sz="145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A2B7A96F-5BB0-83BE-1E13-20078E252768}"/>
              </a:ext>
            </a:extLst>
          </p:cNvPr>
          <p:cNvSpPr/>
          <p:nvPr/>
        </p:nvSpPr>
        <p:spPr>
          <a:xfrm>
            <a:off x="8503920" y="57607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kern="0" spc="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 for distributed data access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tool examples / MOFA tool examples 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(from session 1&amp;2)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something graph this and that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265176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284195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33172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Neighborhood expansion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9120" y="233172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45152" y="265176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347" y="284195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33172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Shortest paths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38160" y="233172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94192" y="265176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387" y="28419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1160" y="2331720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Centrality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3959352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4279392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07" y="4469587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3959352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detection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389120" y="3959352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645152" y="4279392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347" y="4469587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32120" y="3959352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filtering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8138160" y="3959352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8394192" y="4279392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4387" y="4469587"/>
            <a:ext cx="351130" cy="35113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281160" y="3959352"/>
            <a:ext cx="2176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path extraction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640080" y="58978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914400" y="589788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the model to ‘reason’ and delegate computation to deterministic code.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graph agent in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9257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627632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candidate genes are supported by both this phenotype neighborhood and this patient's multi-omic profile?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743200"/>
            <a:ext cx="3502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41248" y="2944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124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392424" y="2926080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561" y="3059217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1248" y="349300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profile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41248" y="380390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patient's multi-omic sample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389120" y="2743200"/>
            <a:ext cx="3502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90288" y="2944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59028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141464" y="2926080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601" y="3059217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90288" y="349300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features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4590288" y="380390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high-loading molecular features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138160" y="2743200"/>
            <a:ext cx="3502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339328" y="29443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3393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0890504" y="2926080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641" y="3059217"/>
            <a:ext cx="245791" cy="24579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339328" y="349300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to nodes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8339328" y="380390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features to graph entities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40080" y="4443984"/>
            <a:ext cx="3502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41248" y="46451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841248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3392424" y="4626864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5561" y="4760001"/>
            <a:ext cx="245791" cy="24579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41248" y="519379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graph</a:t>
            </a:r>
            <a:endParaRPr lang="en-US" sz="1550" dirty="0"/>
          </a:p>
        </p:txBody>
      </p:sp>
      <p:sp>
        <p:nvSpPr>
          <p:cNvPr id="37" name="Text 30"/>
          <p:cNvSpPr/>
          <p:nvPr/>
        </p:nvSpPr>
        <p:spPr>
          <a:xfrm>
            <a:off x="841248" y="55046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phenotype neighborhood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4389120" y="4443984"/>
            <a:ext cx="3502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590288" y="46451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4590288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7141464" y="4626864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601" y="4760001"/>
            <a:ext cx="245791" cy="24579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4590288" y="519379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genes</a:t>
            </a:r>
            <a:endParaRPr lang="en-US" sz="1550" dirty="0"/>
          </a:p>
        </p:txBody>
      </p:sp>
      <p:sp>
        <p:nvSpPr>
          <p:cNvPr id="44" name="Text 36"/>
          <p:cNvSpPr/>
          <p:nvPr/>
        </p:nvSpPr>
        <p:spPr>
          <a:xfrm>
            <a:off x="4590288" y="55046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 by combined evidence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8138160" y="4443984"/>
            <a:ext cx="350215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8339328" y="46451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/>
          <p:nvPr/>
        </p:nvSpPr>
        <p:spPr>
          <a:xfrm>
            <a:off x="8339328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48" name="Shape 40"/>
          <p:cNvSpPr/>
          <p:nvPr/>
        </p:nvSpPr>
        <p:spPr>
          <a:xfrm>
            <a:off x="10890504" y="4626864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3641" y="4760001"/>
            <a:ext cx="245791" cy="245791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8339328" y="519379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550" dirty="0"/>
          </a:p>
        </p:txBody>
      </p:sp>
      <p:sp>
        <p:nvSpPr>
          <p:cNvPr id="51" name="Text 42"/>
          <p:cNvSpPr/>
          <p:nvPr/>
        </p:nvSpPr>
        <p:spPr>
          <a:xfrm>
            <a:off x="8339328" y="55046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evidence chain in plain language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097280"/>
            <a:ext cx="1152144" cy="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1097280"/>
            <a:ext cx="1152144" cy="64008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61904" y="457200"/>
            <a:ext cx="1152144" cy="64008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61904" y="1737360"/>
            <a:ext cx="1152144" cy="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61904" y="1737360"/>
            <a:ext cx="640080" cy="512064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14048" y="1097280"/>
            <a:ext cx="0" cy="1152144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81744" y="969264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65892" y="361188"/>
            <a:ext cx="192024" cy="1920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65892" y="1641348"/>
            <a:ext cx="192024" cy="1920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686032" y="969264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205972" y="2153412"/>
            <a:ext cx="192024" cy="1920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3  ·  DEEP DIVE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Tools, MCP &amp; Skills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22960" y="2514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ground an agent — what each is for, and the trade-offs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5204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3520440"/>
            <a:ext cx="3383280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43000" y="388620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857" y="4112057"/>
            <a:ext cx="416966" cy="41696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148840" y="3977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1188720" y="4892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the model can call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480560" y="35204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480560" y="3520440"/>
            <a:ext cx="3383280" cy="10972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800600" y="3886200"/>
            <a:ext cx="868680" cy="868680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457" y="4112057"/>
            <a:ext cx="416966" cy="41696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806440" y="3977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2300" dirty="0"/>
          </a:p>
        </p:txBody>
      </p:sp>
      <p:sp>
        <p:nvSpPr>
          <p:cNvPr id="28" name="Text 24"/>
          <p:cNvSpPr/>
          <p:nvPr/>
        </p:nvSpPr>
        <p:spPr>
          <a:xfrm>
            <a:off x="4846320" y="4892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interface for those tools</a:t>
            </a:r>
            <a:endParaRPr lang="en-US" sz="1450" dirty="0"/>
          </a:p>
        </p:txBody>
      </p:sp>
      <p:sp>
        <p:nvSpPr>
          <p:cNvPr id="29" name="Shape 25"/>
          <p:cNvSpPr/>
          <p:nvPr/>
        </p:nvSpPr>
        <p:spPr>
          <a:xfrm>
            <a:off x="8138160" y="352044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8138160" y="3520440"/>
            <a:ext cx="3383280" cy="1097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458200" y="3886200"/>
            <a:ext cx="868680" cy="868680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057" y="4112057"/>
            <a:ext cx="416966" cy="41696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464040" y="3977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2300" dirty="0"/>
          </a:p>
        </p:txBody>
      </p:sp>
      <p:sp>
        <p:nvSpPr>
          <p:cNvPr id="34" name="Text 29"/>
          <p:cNvSpPr/>
          <p:nvPr/>
        </p:nvSpPr>
        <p:spPr>
          <a:xfrm>
            <a:off x="8503920" y="4892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should behave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 1 OF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— direct function calling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800600" cy="45720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2029968"/>
            <a:ext cx="841248" cy="841248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44" y="2248692"/>
            <a:ext cx="403799" cy="4037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38528" y="2066544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05840" y="298094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deterministic functions exposed to the model. The LLM picks which to call and with what arguments; the facts come from your code.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05840" y="3950208"/>
            <a:ext cx="4069080" cy="0"/>
          </a:xfrm>
          <a:prstGeom prst="line">
            <a:avLst/>
          </a:prstGeom>
          <a:noFill/>
          <a:ln w="1905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40599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24128" y="442569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4128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63040" y="43708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functions + their schemas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24128" y="483717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4128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63040" y="4782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emits a structured tool call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024128" y="524865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4128" y="5248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63040" y="51937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it; feed the result back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05840" y="5742432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170432" y="5742432"/>
            <a:ext cx="3831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model ask local code for facts?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60720" y="1783080"/>
            <a:ext cx="57607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760720" y="1783080"/>
            <a:ext cx="109728" cy="2212848"/>
          </a:xfrm>
          <a:prstGeom prst="rect">
            <a:avLst/>
          </a:prstGeom>
          <a:solidFill>
            <a:srgbClr val="1B9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80760" y="19293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B9E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4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377440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492240" y="23134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path — minimal setup</a:t>
            </a:r>
            <a:endParaRPr lang="en-US" sz="13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788920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92240" y="2724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trustworthy results</a:t>
            </a:r>
            <a:endParaRPr lang="en-US" sz="13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20040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92240" y="31363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traces are easy to inspect &amp; debug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61188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92240" y="35478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notebooks and teaching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5760720" y="4160520"/>
            <a:ext cx="57607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5760720" y="4160520"/>
            <a:ext cx="109728" cy="2148840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080760" y="4306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D149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754880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492240" y="46908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one notebook or app</a:t>
            </a:r>
            <a:endParaRPr lang="en-US" sz="13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166360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492240" y="51023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Re-defined for every new client</a:t>
            </a:r>
            <a:endParaRPr lang="en-US" sz="13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577840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492240" y="55138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way to discover them</a:t>
            </a:r>
            <a:endParaRPr lang="en-US" sz="13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989320"/>
            <a:ext cx="256032" cy="25603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492240" y="59253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+ model code stay entangled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 2 OF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a portable tool interface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800600" cy="45720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2029968"/>
            <a:ext cx="841248" cy="841248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44" y="2248692"/>
            <a:ext cx="403799" cy="4037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38528" y="2066544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05840" y="298094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a standard server that exposes tools, resources, and prompts so any compatible client can discover and use them.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05840" y="3950208"/>
            <a:ext cx="4069080" cy="0"/>
          </a:xfrm>
          <a:prstGeom prst="line">
            <a:avLst/>
          </a:prstGeom>
          <a:noFill/>
          <a:ln w="1905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40599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24128" y="442569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4128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63040" y="43708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same tools in an MCP server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24128" y="483717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4128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63040" y="4782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connects &amp; lists capabilities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024128" y="524865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4128" y="5248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63040" y="51937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tools over the protocol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05840" y="5742432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170432" y="5742432"/>
            <a:ext cx="3831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many clients reuse the same tools?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60720" y="1783080"/>
            <a:ext cx="57607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760720" y="1783080"/>
            <a:ext cx="109728" cy="2212848"/>
          </a:xfrm>
          <a:prstGeom prst="rect">
            <a:avLst/>
          </a:prstGeom>
          <a:solidFill>
            <a:srgbClr val="1B9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80760" y="19293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B9E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4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377440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492240" y="23134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interface, reused across clients</a:t>
            </a:r>
            <a:endParaRPr lang="en-US" sz="13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788920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92240" y="2724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model and data</a:t>
            </a:r>
            <a:endParaRPr lang="en-US" sz="13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20040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92240" y="31363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discoverable by any client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61188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92240" y="35478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Model-provider independent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5760720" y="4160520"/>
            <a:ext cx="57607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5760720" y="4160520"/>
            <a:ext cx="109728" cy="2148840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080760" y="4306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D149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754880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492240" y="46908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setup and infrastructure</a:t>
            </a:r>
            <a:endParaRPr lang="en-US" sz="13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166360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492240" y="51023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moving part to run &amp; maintain</a:t>
            </a:r>
            <a:endParaRPr lang="en-US" sz="13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577840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492240" y="55138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a single notebook</a:t>
            </a:r>
            <a:endParaRPr lang="en-US" sz="13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989320"/>
            <a:ext cx="256032" cy="25603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492240" y="59253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spans a process boundary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 3 OF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— reusable behaviour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800600" cy="45720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2029968"/>
            <a:ext cx="841248" cy="841248"/>
          </a:xfrm>
          <a:prstGeom prst="ellipse">
            <a:avLst/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844" y="2248692"/>
            <a:ext cx="403799" cy="4037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38528" y="2066544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05840" y="298094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CF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instruction packages that shape how an agent behaves with whatever tools it has — evidence discipline, citations, domain caution.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05840" y="3950208"/>
            <a:ext cx="4069080" cy="0"/>
          </a:xfrm>
          <a:prstGeom prst="line">
            <a:avLst/>
          </a:prstGeom>
          <a:noFill/>
          <a:ln w="1905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40599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24128" y="442569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4128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63040" y="43708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rules in a SKILL.md file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24128" y="483717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24128" y="4837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63040" y="4782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it into the agent's context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024128" y="524865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24128" y="5248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63040" y="519379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applies across every task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05840" y="5742432"/>
            <a:ext cx="4069080" cy="475488"/>
          </a:xfrm>
          <a:prstGeom prst="roundRect">
            <a:avLst>
              <a:gd name="adj" fmla="val 11538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170432" y="5742432"/>
            <a:ext cx="3831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agent behave while using tools?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760720" y="1783080"/>
            <a:ext cx="57607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760720" y="1783080"/>
            <a:ext cx="109728" cy="2212848"/>
          </a:xfrm>
          <a:prstGeom prst="rect">
            <a:avLst/>
          </a:prstGeom>
          <a:solidFill>
            <a:srgbClr val="1B9E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80760" y="19293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B9E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4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377440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492240" y="23134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answer discipline across tasks</a:t>
            </a:r>
            <a:endParaRPr lang="en-US" sz="13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2788920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92240" y="27249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guardrails &amp; domain caution</a:t>
            </a:r>
            <a:endParaRPr lang="en-US" sz="13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20040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92240" y="313639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— portable across agents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611880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92240" y="35478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behaviour from one-off prompts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5760720" y="4160520"/>
            <a:ext cx="57607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5760720" y="4160520"/>
            <a:ext cx="109728" cy="2148840"/>
          </a:xfrm>
          <a:prstGeom prst="rect">
            <a:avLst/>
          </a:prstGeom>
          <a:solidFill>
            <a:srgbClr val="D149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080760" y="430682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D149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4754880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492240" y="469087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 source — cannot compute</a:t>
            </a:r>
            <a:endParaRPr lang="en-US" sz="13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166360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492240" y="51023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reliable as the model's compliance</a:t>
            </a:r>
            <a:endParaRPr lang="en-US" sz="13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577840"/>
            <a:ext cx="256032" cy="25603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492240" y="551383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enforcement of the rules</a:t>
            </a:r>
            <a:endParaRPr lang="en-US" sz="13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5989320"/>
            <a:ext cx="256032" cy="25603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492240" y="59253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Useless without tools to ground facts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 BY SIDE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at a glance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783080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88920" y="1783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1783080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1783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32520" y="1783080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0E7C6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32520" y="1783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2057400" cy="603504"/>
          </a:xfrm>
          <a:prstGeom prst="roundRect">
            <a:avLst>
              <a:gd name="adj" fmla="val 757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45059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88920" y="2450592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53512" y="2450592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functions the model calls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450592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25312" y="2450592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 serving tools, data &amp; prompts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2520" y="2450592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97112" y="2450592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behaviour instructions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118104"/>
            <a:ext cx="2057400" cy="603504"/>
          </a:xfrm>
          <a:prstGeom prst="roundRect">
            <a:avLst>
              <a:gd name="adj" fmla="val 757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118104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provides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788920" y="3118104"/>
            <a:ext cx="2880360" cy="603504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53512" y="3118104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3118104"/>
            <a:ext cx="2880360" cy="603504"/>
          </a:xfrm>
          <a:prstGeom prst="rect">
            <a:avLst/>
          </a:prstGeom>
          <a:solidFill>
            <a:srgbClr val="E6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25312" y="3118104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+ resources + prompts, standardized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732520" y="3118104"/>
            <a:ext cx="2880360" cy="603504"/>
          </a:xfrm>
          <a:prstGeom prst="rect">
            <a:avLst/>
          </a:prstGeom>
          <a:solidFill>
            <a:srgbClr val="E9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97112" y="3118104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&amp; guardrails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785616"/>
            <a:ext cx="2057400" cy="603504"/>
          </a:xfrm>
          <a:prstGeom prst="roundRect">
            <a:avLst>
              <a:gd name="adj" fmla="val 757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37856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cost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788920" y="3785616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53512" y="3785616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60720" y="3785616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25312" y="3785616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– High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32520" y="3785616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897112" y="3785616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4453128"/>
            <a:ext cx="2057400" cy="603504"/>
          </a:xfrm>
          <a:prstGeom prst="roundRect">
            <a:avLst>
              <a:gd name="adj" fmla="val 757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2960" y="44531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Portability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2788920" y="4453128"/>
            <a:ext cx="2880360" cy="603504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53512" y="445312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Notebook-bound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60720" y="4453128"/>
            <a:ext cx="2880360" cy="603504"/>
          </a:xfrm>
          <a:prstGeom prst="rect">
            <a:avLst/>
          </a:prstGeom>
          <a:solidFill>
            <a:srgbClr val="E6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25312" y="445312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any compatible client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732520" y="4453128"/>
            <a:ext cx="2880360" cy="603504"/>
          </a:xfrm>
          <a:prstGeom prst="rect">
            <a:avLst/>
          </a:prstGeom>
          <a:solidFill>
            <a:srgbClr val="E9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897112" y="445312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any agent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5120640"/>
            <a:ext cx="2057400" cy="603504"/>
          </a:xfrm>
          <a:prstGeom prst="roundRect">
            <a:avLst>
              <a:gd name="adj" fmla="val 757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22960" y="512064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Grounds facts?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788920" y="5120640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953512" y="512064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via code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760720" y="5120640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25312" y="512064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via served tools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732520" y="5120640"/>
            <a:ext cx="288036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897112" y="512064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directs tool use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" y="5788152"/>
            <a:ext cx="2057400" cy="603504"/>
          </a:xfrm>
          <a:prstGeom prst="roundRect">
            <a:avLst>
              <a:gd name="adj" fmla="val 757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22960" y="578815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788920" y="5788152"/>
            <a:ext cx="2880360" cy="603504"/>
          </a:xfrm>
          <a:prstGeom prst="rect">
            <a:avLst/>
          </a:prstGeom>
          <a:solidFill>
            <a:srgbClr val="EA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953512" y="5788152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&amp; teaching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60720" y="5788152"/>
            <a:ext cx="2880360" cy="603504"/>
          </a:xfrm>
          <a:prstGeom prst="rect">
            <a:avLst/>
          </a:prstGeom>
          <a:solidFill>
            <a:srgbClr val="E6F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925312" y="5788152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across clients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732520" y="5788152"/>
            <a:ext cx="2880360" cy="603504"/>
          </a:xfrm>
          <a:prstGeom prst="rect">
            <a:avLst/>
          </a:prstGeom>
          <a:solidFill>
            <a:srgbClr val="E9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897112" y="5788152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safe answers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TAKEAWAY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competing — they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MCP, and skills answer different questions. Most real agents use all three together.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4846320" cy="896112"/>
          </a:xfrm>
          <a:prstGeom prst="roundRect">
            <a:avLst>
              <a:gd name="adj" fmla="val 8163"/>
            </a:avLst>
          </a:prstGeom>
          <a:solidFill>
            <a:srgbClr val="02C39A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" y="2468880"/>
            <a:ext cx="530352" cy="530352"/>
          </a:xfrm>
          <a:prstGeom prst="ellipse">
            <a:avLst/>
          </a:prstGeom>
          <a:solidFill>
            <a:srgbClr val="0B2545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0" y="2606772"/>
            <a:ext cx="254569" cy="2545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395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554480" y="27614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behaves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484632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41248" y="3520440"/>
            <a:ext cx="530352" cy="530352"/>
          </a:xfrm>
          <a:prstGeom prst="ellipse">
            <a:avLst/>
          </a:prstGeom>
          <a:solidFill>
            <a:srgbClr val="0B2545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40" y="3658332"/>
            <a:ext cx="254569" cy="2545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3447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554480" y="38130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tools are served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389120"/>
            <a:ext cx="4846320" cy="896112"/>
          </a:xfrm>
          <a:prstGeom prst="roundRect">
            <a:avLst>
              <a:gd name="adj" fmla="val 8163"/>
            </a:avLst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41248" y="4572000"/>
            <a:ext cx="530352" cy="530352"/>
          </a:xfrm>
          <a:prstGeom prst="ellipse">
            <a:avLst/>
          </a:prstGeom>
          <a:solidFill>
            <a:srgbClr val="0B2545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40" y="4709892"/>
            <a:ext cx="254569" cy="2545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498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554480" y="48646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agent, three layers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806440" y="2212848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FOR…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806440" y="2606040"/>
            <a:ext cx="57150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806440" y="2606040"/>
            <a:ext cx="109728" cy="107899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080760" y="2889504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897" y="3022641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66560" y="275234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6766560" y="31181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just need the model to call local code — fastest to stand up.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806440" y="3794760"/>
            <a:ext cx="57150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806440" y="3794760"/>
            <a:ext cx="109728" cy="107899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6080760" y="4078224"/>
            <a:ext cx="512064" cy="512064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897" y="4211361"/>
            <a:ext cx="245791" cy="245791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766560" y="394106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6766560" y="43068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same tools must serve many clients, or to keep data and model cleanly separate.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5806440" y="4983480"/>
            <a:ext cx="571500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5806440" y="4983480"/>
            <a:ext cx="109728" cy="1078992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6080760" y="5266944"/>
            <a:ext cx="512064" cy="512064"/>
          </a:xfrm>
          <a:prstGeom prst="ellipse">
            <a:avLst/>
          </a:prstGeom>
          <a:solidFill>
            <a:srgbClr val="0E7C6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897" y="5400081"/>
            <a:ext cx="245791" cy="245791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766560" y="51297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700" dirty="0"/>
          </a:p>
        </p:txBody>
      </p:sp>
      <p:sp>
        <p:nvSpPr>
          <p:cNvPr id="41" name="Text 33"/>
          <p:cNvSpPr/>
          <p:nvPr/>
        </p:nvSpPr>
        <p:spPr>
          <a:xfrm>
            <a:off x="6766560" y="54955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answers must stay consistent, cite evidence, and respect domain limits.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FITS TOGETHER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tracks, one biomedical task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2763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question:  </a:t>
            </a: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profile P001, which genes connected to autism spectrum disorder should we prioritize, and why?”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50215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502152" cy="1097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79676" y="2953512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646" y="3167482"/>
            <a:ext cx="395021" cy="3950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8862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12394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tools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450799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Python functions called in the notebook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846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the model ask local code for facts?”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89120" y="2606040"/>
            <a:ext cx="350215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89120" y="2606040"/>
            <a:ext cx="3502152" cy="10972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28716" y="2953512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686" y="3167482"/>
            <a:ext cx="395021" cy="39502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0" y="38862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2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0" y="412394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MCP-hosted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617720" y="450799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tools behind a portable server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617720" y="4846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many clients reuse the same tools?”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38160" y="2606040"/>
            <a:ext cx="350215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138160" y="2606040"/>
            <a:ext cx="3502152" cy="109728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9477756" y="2953512"/>
            <a:ext cx="822960" cy="822960"/>
          </a:xfrm>
          <a:prstGeom prst="ellipse">
            <a:avLst/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1726" y="3167482"/>
            <a:ext cx="395021" cy="39502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21040" y="38862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331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321040" y="412394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skills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8366760" y="4507992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rules for how the agent behaves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8366760" y="4846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should the agent behave while using tools?”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expected answer  →  </a:t>
            </a:r>
            <a:r>
              <a:rPr lang="en-US" sz="1400" b="1" i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SHANK3 · SCN2A · CHD8</a:t>
            </a:r>
            <a:r>
              <a:rPr lang="en-US" sz="14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ranked by profile score among genes linked to HP:0000729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676656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practical &amp; what good looks like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4712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B70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WILL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1248" y="2295144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85" y="242828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6192" y="2103120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 </a:t>
            </a: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LLM-only vs tool-grounded answers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41248" y="3300984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85" y="3434121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36192" y="3108960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 </a:t>
            </a: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traces, call by call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411480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1248" y="4306824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385" y="4439961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4114800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 </a:t>
            </a: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instruction and rerun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12064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41248" y="5312664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385" y="544580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6192" y="5120640"/>
            <a:ext cx="4206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 </a:t>
            </a: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with a multi-omic profile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263640" y="169164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583680" y="2011680"/>
            <a:ext cx="713232" cy="713232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120" y="2197120"/>
            <a:ext cx="342351" cy="3423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52360" y="20116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good agent answer is...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6629400" y="27889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· inspectable · modest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6629400" y="3227832"/>
            <a:ext cx="4526280" cy="0"/>
          </a:xfrm>
          <a:prstGeom prst="line">
            <a:avLst/>
          </a:prstGeom>
          <a:noFill/>
          <a:ln w="1905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465576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32320" y="34107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tools it used</a:t>
            </a:r>
            <a:endParaRPr lang="en-US" sz="14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995928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132320" y="394106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graph evidence (node IDs, paths)</a:t>
            </a:r>
            <a:endParaRPr lang="en-US" sz="14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526280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32320" y="44714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the profile evidence</a:t>
            </a:r>
            <a:endParaRPr lang="en-US" sz="145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5056632"/>
            <a:ext cx="292608" cy="29260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132320" y="50017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evidence from interpretation</a:t>
            </a:r>
            <a:endParaRPr lang="en-US" sz="145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5586984"/>
            <a:ext cx="292608" cy="29260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132320" y="5532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when the graph has no answer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152144" cy="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152144" cy="64008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83664" y="731520"/>
            <a:ext cx="1152144" cy="64008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83664" y="2011680"/>
            <a:ext cx="1152144" cy="0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83664" y="2011680"/>
            <a:ext cx="640080" cy="512064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35808" y="1371600"/>
            <a:ext cx="0" cy="1152144"/>
          </a:xfrm>
          <a:prstGeom prst="line">
            <a:avLst/>
          </a:prstGeom>
          <a:noFill/>
          <a:ln w="19050">
            <a:solidFill>
              <a:srgbClr val="02809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24358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87652" y="635508"/>
            <a:ext cx="192024" cy="1920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87652" y="1915668"/>
            <a:ext cx="192024" cy="1920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07792" y="124358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7732" y="2427732"/>
            <a:ext cx="192024" cy="1920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875520" y="5074920"/>
            <a:ext cx="1069848" cy="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75520" y="5074920"/>
            <a:ext cx="1069848" cy="59436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945368" y="4480560"/>
            <a:ext cx="1069848" cy="59436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45368" y="5669280"/>
            <a:ext cx="1069848" cy="0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945368" y="5669280"/>
            <a:ext cx="594360" cy="475488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015216" y="5074920"/>
            <a:ext cx="0" cy="1069848"/>
          </a:xfrm>
          <a:prstGeom prst="line">
            <a:avLst/>
          </a:prstGeom>
          <a:noFill/>
          <a:ln w="19050">
            <a:solidFill>
              <a:srgbClr val="00A89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756648" y="4956048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856214" y="4391406"/>
            <a:ext cx="178308" cy="1783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856214" y="5580126"/>
            <a:ext cx="178308" cy="1783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896344" y="4956048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50574" y="6055614"/>
            <a:ext cx="178308" cy="1783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LET'S GIVE THE MODEL TOOLS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</a:rPr>
              <a:t>We can move to </a:t>
            </a:r>
            <a:r>
              <a:rPr lang="en-US" sz="4000" b="1" dirty="0" err="1">
                <a:solidFill>
                  <a:srgbClr val="FFFFFF"/>
                </a:solidFill>
                <a:latin typeface="Trebuchet MS" pitchFamily="34" charset="0"/>
              </a:rPr>
              <a:t>jupyter</a:t>
            </a: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</a:rPr>
              <a:t> notebook here?</a:t>
            </a:r>
            <a:endParaRPr lang="en-US" sz="4000" dirty="0"/>
          </a:p>
        </p:txBody>
      </p:sp>
      <p:sp>
        <p:nvSpPr>
          <p:cNvPr id="27" name="Shape 25"/>
          <p:cNvSpPr/>
          <p:nvPr/>
        </p:nvSpPr>
        <p:spPr>
          <a:xfrm>
            <a:off x="822960" y="315468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2960" y="3154680"/>
            <a:ext cx="128016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97280" y="3456432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B25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362" y="3658514"/>
            <a:ext cx="373075" cy="37307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148840" y="324612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THIS PROMPT
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“Given profile P001 and phenotype X, identify candidate genes and explain the evidence chain.”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41248" y="5074920"/>
            <a:ext cx="3657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Building Agentic LLM Workflows for Biomedical Knowledge Graphs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ECCB 2026 Tutorial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3054</TotalTime>
  <Words>1398</Words>
  <Application>Microsoft Macintosh PowerPoint</Application>
  <PresentationFormat>Widescreen</PresentationFormat>
  <Paragraphs>303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Agentic LLM Workflows for Biomedical Knowledge Graphs</dc:title>
  <dc:subject>PptxGenJS Presentation</dc:subject>
  <dc:creator>Simpson · Ryan · Kamp · Lee</dc:creator>
  <cp:lastModifiedBy>이채은[ 학부졸업 / 국제학부 ]</cp:lastModifiedBy>
  <cp:revision>9</cp:revision>
  <dcterms:created xsi:type="dcterms:W3CDTF">2026-06-08T12:55:52Z</dcterms:created>
  <dcterms:modified xsi:type="dcterms:W3CDTF">2026-06-10T16:06:58Z</dcterms:modified>
</cp:coreProperties>
</file>